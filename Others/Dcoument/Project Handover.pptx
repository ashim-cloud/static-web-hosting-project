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  <p:sldMasterId id="2147483689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3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aleway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7D6030-AFA0-4BC9-86BF-357AA8DE2A95}">
  <a:tblStyle styleId="{C77D6030-AFA0-4BC9-86BF-357AA8DE2A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95f21745f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c95f21745f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c95f21745f_2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95f21745f_2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c95f21745f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af873b34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af873b349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caf873b349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95f21745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95f21745f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c95f21745f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95f21745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95f21745f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c95f21745f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95f21745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95f21745f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c95f21745f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95f21745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95f21745f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c95f21745f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95f21745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95f21745f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c95f21745f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95f21745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95f21745f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c95f21745f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95f21745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95f21745f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c95f21745f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a421c0189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a421c0189_0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ca421c0189_0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95f21745f_2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c95f21745f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255"/>
            <a:ext cx="9144000" cy="514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7081" y="419100"/>
            <a:ext cx="2295088" cy="5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4"/>
          <p:cNvCxnSpPr/>
          <p:nvPr/>
        </p:nvCxnSpPr>
        <p:spPr>
          <a:xfrm>
            <a:off x="724095" y="4436184"/>
            <a:ext cx="7871073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724096" y="2409751"/>
            <a:ext cx="7871073" cy="74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724096" y="3111748"/>
            <a:ext cx="3645167" cy="32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2"/>
          </p:nvPr>
        </p:nvSpPr>
        <p:spPr>
          <a:xfrm>
            <a:off x="7213476" y="4518626"/>
            <a:ext cx="1381693" cy="24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rmAutofit/>
          </a:bodyPr>
          <a:lstStyle>
            <a:lvl1pPr marL="457200" lvl="0" indent="-2286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3"/>
          </p:nvPr>
        </p:nvSpPr>
        <p:spPr>
          <a:xfrm>
            <a:off x="7213476" y="4706183"/>
            <a:ext cx="1381693" cy="24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rmAutofit/>
          </a:bodyPr>
          <a:lstStyle>
            <a:lvl1pPr marL="457200" lvl="0" indent="-2286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 with Bullet Point">
  <p:cSld name="Single Colum with Bullet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737544" y="0"/>
            <a:ext cx="7128403" cy="87501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1939" y="195836"/>
            <a:ext cx="412525" cy="412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5"/>
          <p:cNvCxnSpPr/>
          <p:nvPr/>
        </p:nvCxnSpPr>
        <p:spPr>
          <a:xfrm>
            <a:off x="737544" y="1086915"/>
            <a:ext cx="8406456" cy="0"/>
          </a:xfrm>
          <a:prstGeom prst="straightConnector1">
            <a:avLst/>
          </a:prstGeom>
          <a:noFill/>
          <a:ln w="38100" cap="flat" cmpd="sng">
            <a:solidFill>
              <a:srgbClr val="00A5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53" cy="97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603" cy="33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01293" y="-20238"/>
            <a:ext cx="10917320" cy="562624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7893330" y="4819688"/>
            <a:ext cx="1250670" cy="3035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385180" y="1734754"/>
            <a:ext cx="4020996" cy="1700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255"/>
            <a:ext cx="9144000" cy="51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7081" y="419100"/>
            <a:ext cx="2295089" cy="5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9"/>
          <p:cNvCxnSpPr/>
          <p:nvPr/>
        </p:nvCxnSpPr>
        <p:spPr>
          <a:xfrm>
            <a:off x="724095" y="4436184"/>
            <a:ext cx="78711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724096" y="2409751"/>
            <a:ext cx="78711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724096" y="3111748"/>
            <a:ext cx="36453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body" idx="2"/>
          </p:nvPr>
        </p:nvSpPr>
        <p:spPr>
          <a:xfrm>
            <a:off x="7213476" y="4518626"/>
            <a:ext cx="1381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rmAutofit/>
          </a:bodyPr>
          <a:lstStyle>
            <a:lvl1pPr marL="457200" lvl="0" indent="-2286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3"/>
          </p:nvPr>
        </p:nvSpPr>
        <p:spPr>
          <a:xfrm>
            <a:off x="7213476" y="4706183"/>
            <a:ext cx="1381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rmAutofit/>
          </a:bodyPr>
          <a:lstStyle>
            <a:lvl1pPr marL="457200" lvl="0" indent="-2286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 with Bullet Point">
  <p:cSld name="Single Colum with Bullet Poin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/>
          <p:nvPr/>
        </p:nvSpPr>
        <p:spPr>
          <a:xfrm>
            <a:off x="737544" y="0"/>
            <a:ext cx="7128600" cy="876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21939" y="195836"/>
            <a:ext cx="412525" cy="412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30"/>
          <p:cNvCxnSpPr/>
          <p:nvPr/>
        </p:nvCxnSpPr>
        <p:spPr>
          <a:xfrm>
            <a:off x="737544" y="1086915"/>
            <a:ext cx="8406600" cy="0"/>
          </a:xfrm>
          <a:prstGeom prst="straightConnector1">
            <a:avLst/>
          </a:prstGeom>
          <a:noFill/>
          <a:ln w="28575" cap="flat" cmpd="sng">
            <a:solidFill>
              <a:srgbClr val="00A5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01293" y="-20238"/>
            <a:ext cx="10917320" cy="56262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1"/>
          <p:cNvSpPr/>
          <p:nvPr/>
        </p:nvSpPr>
        <p:spPr>
          <a:xfrm>
            <a:off x="7893330" y="4819688"/>
            <a:ext cx="1250700" cy="30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4385180" y="1734754"/>
            <a:ext cx="4020900" cy="17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3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4" name="Google Shape;214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1" name="Google Shape;221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714137" y="2028370"/>
            <a:ext cx="7715726" cy="112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FFFFFF"/>
                </a:solidFill>
              </a:rPr>
              <a:t>STATIC WEBSITE HOSTING</a:t>
            </a:r>
            <a:endParaRPr sz="4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3"/>
          <p:cNvSpPr txBox="1">
            <a:spLocks noGrp="1"/>
          </p:cNvSpPr>
          <p:nvPr>
            <p:ph type="title"/>
          </p:nvPr>
        </p:nvSpPr>
        <p:spPr>
          <a:xfrm>
            <a:off x="737775" y="3149606"/>
            <a:ext cx="7668450" cy="106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300">
                <a:latin typeface="Raleway"/>
                <a:ea typeface="Raleway"/>
                <a:cs typeface="Raleway"/>
                <a:sym typeface="Raleway"/>
              </a:rPr>
              <a:t>PROJECT HANDOVER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53" cy="97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300">
                <a:latin typeface="Raleway"/>
                <a:ea typeface="Raleway"/>
                <a:cs typeface="Raleway"/>
                <a:sym typeface="Raleway"/>
              </a:rPr>
              <a:t>Environment Overview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idx="1"/>
          </p:nvPr>
        </p:nvSpPr>
        <p:spPr>
          <a:xfrm>
            <a:off x="737824" y="1149871"/>
            <a:ext cx="7670603" cy="390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Two environments: UAT &amp; PROD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Separate Terraform configurations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Shared promotion workflow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GitHub-based source repository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Independent CloudFront distributions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Inventory</a:t>
            </a:r>
            <a:endParaRPr/>
          </a:p>
        </p:txBody>
      </p:sp>
      <p:graphicFrame>
        <p:nvGraphicFramePr>
          <p:cNvPr id="255" name="Google Shape;255;p45"/>
          <p:cNvGraphicFramePr/>
          <p:nvPr/>
        </p:nvGraphicFramePr>
        <p:xfrm>
          <a:off x="399831" y="1278914"/>
          <a:ext cx="8511800" cy="3563110"/>
        </p:xfrm>
        <a:graphic>
          <a:graphicData uri="http://schemas.openxmlformats.org/drawingml/2006/table">
            <a:tbl>
              <a:tblPr>
                <a:noFill/>
                <a:tableStyleId>{C77D6030-AFA0-4BC9-86BF-357AA8DE2A95}</a:tableStyleId>
              </a:tblPr>
              <a:tblGrid>
                <a:gridCol w="312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1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Component/Service</a:t>
                      </a:r>
                      <a:endParaRPr sz="21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 sz="21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Value/Scope</a:t>
                      </a:r>
                      <a:endParaRPr sz="21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Terraform Code</a:t>
                      </a:r>
                      <a:endParaRPr sz="21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IaC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Region</a:t>
                      </a: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(for Regional Resources)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ap-southeast-1 (Singapore)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 Buckets, CodePipeline, EventBridge, Lambda, SNS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CloudFront</a:t>
                      </a:r>
                      <a:endParaRPr sz="21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CDN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IAM Roles &amp; Policy</a:t>
                      </a:r>
                      <a:endParaRPr sz="21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Least Privilege Access</a:t>
                      </a:r>
                      <a:endParaRPr sz="2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&amp; Permissions</a:t>
            </a:r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IAM roles for Terraform execution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Pipeline service roles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Lambda execution role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GitHub CodeConnection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SNS email subscribers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Overview and Diagram</a:t>
            </a:r>
            <a:endParaRPr/>
          </a:p>
        </p:txBody>
      </p:sp>
      <p:pic>
        <p:nvPicPr>
          <p:cNvPr id="269" name="Google Shape;269;p47" title="Static-Web-Hostin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00" y="1532746"/>
            <a:ext cx="8744275" cy="30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Overview and Diagram</a:t>
            </a:r>
            <a:endParaRPr/>
          </a:p>
        </p:txBody>
      </p:sp>
      <p:pic>
        <p:nvPicPr>
          <p:cNvPr id="276" name="Google Shape;276;p48" title="workflow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825" y="1265562"/>
            <a:ext cx="4320575" cy="3775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Operational Process</a:t>
            </a:r>
            <a:endParaRPr/>
          </a:p>
        </p:txBody>
      </p:sp>
      <p:sp>
        <p:nvSpPr>
          <p:cNvPr id="290" name="Google Shape;290;p50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Terraform state backup (recommended remote backend)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Infrastructure redeploy via terraform apply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CloudFront invalidation on new deployment</a:t>
            </a:r>
            <a:b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 dirty="0">
                <a:latin typeface="Source Sans Pro"/>
                <a:ea typeface="Source Sans Pro"/>
                <a:cs typeface="Source Sans Pro"/>
                <a:sym typeface="Source Sans Pro"/>
              </a:rPr>
              <a:t>Recreate UAT before PROD if state lost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Transfer (KT) Details</a:t>
            </a:r>
            <a:endParaRPr/>
          </a:p>
        </p:txBody>
      </p:sp>
      <p:sp>
        <p:nvSpPr>
          <p:cNvPr id="304" name="Google Shape;304;p52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Terraform module explanation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Environment variable walkthrough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Pipeline workflow explanation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Failure scenario demo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Documentation handover completed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Pending Activities</a:t>
            </a:r>
            <a:endParaRPr/>
          </a:p>
        </p:txBody>
      </p:sp>
      <p:sp>
        <p:nvSpPr>
          <p:cNvPr id="311" name="Google Shape;311;p53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Optional remote backend configuration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Enhanced monitoring setup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Multi-region DR implementation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Cost monitoring dashboard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Security hardening review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Handover Acceptance</a:t>
            </a:r>
            <a:endParaRPr/>
          </a:p>
        </p:txBody>
      </p:sp>
      <p:sp>
        <p:nvSpPr>
          <p:cNvPr id="318" name="Google Shape;318;p54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Access verified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Documentation received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KT completed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No pending critical issues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Formal acceptance sign-off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 txBox="1">
            <a:spLocks noGrp="1"/>
          </p:cNvSpPr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Sign-Off</a:t>
            </a:r>
            <a:endParaRPr/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Infrastructure deployed successfully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All planned scope delivered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Testing completed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Documentation shared</a:t>
            </a:r>
            <a:br>
              <a:rPr lang="e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lvl="0" indent="-254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Client acceptance pending signature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6"/>
          <p:cNvSpPr txBox="1">
            <a:spLocks noGrp="1"/>
          </p:cNvSpPr>
          <p:nvPr>
            <p:ph type="title"/>
          </p:nvPr>
        </p:nvSpPr>
        <p:spPr>
          <a:xfrm>
            <a:off x="4385392" y="1734540"/>
            <a:ext cx="4020870" cy="170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">
                <a:solidFill>
                  <a:schemeClr val="dk2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232</Words>
  <Application>Microsoft Office PowerPoint</Application>
  <PresentationFormat>On-screen Show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Source Sans Pro</vt:lpstr>
      <vt:lpstr>Calibri</vt:lpstr>
      <vt:lpstr>Arial</vt:lpstr>
      <vt:lpstr>Raleway</vt:lpstr>
      <vt:lpstr>Simple Light</vt:lpstr>
      <vt:lpstr>Office Theme</vt:lpstr>
      <vt:lpstr>Office Theme</vt:lpstr>
      <vt:lpstr>STATIC WEBSITE HOSTING</vt:lpstr>
      <vt:lpstr>Environment Overview</vt:lpstr>
      <vt:lpstr>Infrastructure Inventory</vt:lpstr>
      <vt:lpstr>Access &amp; Permissions</vt:lpstr>
      <vt:lpstr>Architecture Overview and Diagram</vt:lpstr>
      <vt:lpstr>Architecture Overview and Diagram</vt:lpstr>
      <vt:lpstr>Backup Operational Process</vt:lpstr>
      <vt:lpstr>Knowledge Transfer (KT) Details</vt:lpstr>
      <vt:lpstr>Pending Activities</vt:lpstr>
      <vt:lpstr>Handover Acceptance</vt:lpstr>
      <vt:lpstr>Formal Sign-Off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WEBSITE HOSTING</dc:title>
  <cp:lastModifiedBy>Ashim Munvar Basha</cp:lastModifiedBy>
  <cp:revision>4</cp:revision>
  <dcterms:modified xsi:type="dcterms:W3CDTF">2026-02-25T11:48:11Z</dcterms:modified>
</cp:coreProperties>
</file>