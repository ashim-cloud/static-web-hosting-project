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5"/>
    <p:sldMasterId id="2147483688" r:id="rId6"/>
    <p:sldMasterId id="2147483689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B771118-2874-47FC-A0E7-3B66B8192CC7}">
  <a:tblStyle styleId="{EB771118-2874-47FC-A0E7-3B66B8192CC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11" Type="http://schemas.openxmlformats.org/officeDocument/2006/relationships/slide" Target="slides/slide3.xml"/><Relationship Id="rId22" Type="http://schemas.openxmlformats.org/officeDocument/2006/relationships/font" Target="fonts/Raleway-bold.fntdata"/><Relationship Id="rId10" Type="http://schemas.openxmlformats.org/officeDocument/2006/relationships/slide" Target="slides/slide2.xml"/><Relationship Id="rId21" Type="http://schemas.openxmlformats.org/officeDocument/2006/relationships/font" Target="fonts/Raleway-regular.fntdata"/><Relationship Id="rId13" Type="http://schemas.openxmlformats.org/officeDocument/2006/relationships/slide" Target="slides/slide5.xml"/><Relationship Id="rId24" Type="http://schemas.openxmlformats.org/officeDocument/2006/relationships/font" Target="fonts/Raleway-boldItalic.fntdata"/><Relationship Id="rId12" Type="http://schemas.openxmlformats.org/officeDocument/2006/relationships/slide" Target="slides/slide4.xml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1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9" name="Google Shape;23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2" name="Google Shape;252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9" name="Google Shape;259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7" name="Google Shape;287;p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4" name="Google Shape;294;p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55"/>
            <a:ext cx="9144000" cy="514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081" y="419100"/>
            <a:ext cx="2295088" cy="5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" name="Google Shape;14;p2"/>
          <p:cNvCxnSpPr/>
          <p:nvPr/>
        </p:nvCxnSpPr>
        <p:spPr>
          <a:xfrm>
            <a:off x="724095" y="4436184"/>
            <a:ext cx="7871073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type="title"/>
          </p:nvPr>
        </p:nvSpPr>
        <p:spPr>
          <a:xfrm>
            <a:off x="724096" y="2409751"/>
            <a:ext cx="7871073" cy="74925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724096" y="3111748"/>
            <a:ext cx="3645167" cy="32399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17" name="Google Shape;17;p2"/>
          <p:cNvSpPr txBox="1"/>
          <p:nvPr>
            <p:ph idx="2" type="body"/>
          </p:nvPr>
        </p:nvSpPr>
        <p:spPr>
          <a:xfrm>
            <a:off x="7213476" y="4518626"/>
            <a:ext cx="1381693" cy="241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18" name="Google Shape;18;p2"/>
          <p:cNvSpPr txBox="1"/>
          <p:nvPr>
            <p:ph idx="3" type="body"/>
          </p:nvPr>
        </p:nvSpPr>
        <p:spPr>
          <a:xfrm>
            <a:off x="7213476" y="4706183"/>
            <a:ext cx="1381693" cy="2415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 with Bullet Point">
  <p:cSld name="Single Colum with Bullet Poin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/>
        </p:nvSpPr>
        <p:spPr>
          <a:xfrm>
            <a:off x="737544" y="0"/>
            <a:ext cx="7128403" cy="87501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1939" y="195836"/>
            <a:ext cx="412525" cy="412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" name="Google Shape;22;p3"/>
          <p:cNvCxnSpPr/>
          <p:nvPr/>
        </p:nvCxnSpPr>
        <p:spPr>
          <a:xfrm>
            <a:off x="737544" y="1086915"/>
            <a:ext cx="8406456" cy="0"/>
          </a:xfrm>
          <a:prstGeom prst="straightConnector1">
            <a:avLst/>
          </a:prstGeom>
          <a:noFill/>
          <a:ln cap="flat" cmpd="sng" w="38100">
            <a:solidFill>
              <a:srgbClr val="00A5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" name="Google Shape;23;p3"/>
          <p:cNvSpPr txBox="1"/>
          <p:nvPr>
            <p:ph type="title"/>
          </p:nvPr>
        </p:nvSpPr>
        <p:spPr>
          <a:xfrm>
            <a:off x="737824" y="87762"/>
            <a:ext cx="7668353" cy="9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735573" y="1329755"/>
            <a:ext cx="7670603" cy="335936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01293" y="-20238"/>
            <a:ext cx="10917320" cy="5626242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/>
          <p:nvPr/>
        </p:nvSpPr>
        <p:spPr>
          <a:xfrm>
            <a:off x="7893330" y="4819688"/>
            <a:ext cx="1250670" cy="30357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4385180" y="1734754"/>
            <a:ext cx="4020996" cy="17009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9" name="Google Shape;59;p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lum with Bullet Point">
  <p:cSld name="Single Colum with Bullet 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/>
          <p:nvPr/>
        </p:nvSpPr>
        <p:spPr>
          <a:xfrm>
            <a:off x="737544" y="0"/>
            <a:ext cx="7128600" cy="87600"/>
          </a:xfrm>
          <a:prstGeom prst="rect">
            <a:avLst/>
          </a:prstGeom>
          <a:solidFill>
            <a:srgbClr val="00A55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21939" y="195836"/>
            <a:ext cx="412525" cy="41250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7"/>
          <p:cNvCxnSpPr/>
          <p:nvPr/>
        </p:nvCxnSpPr>
        <p:spPr>
          <a:xfrm>
            <a:off x="737544" y="1086915"/>
            <a:ext cx="8406600" cy="0"/>
          </a:xfrm>
          <a:prstGeom prst="straightConnector1">
            <a:avLst/>
          </a:prstGeom>
          <a:noFill/>
          <a:ln cap="flat" cmpd="sng" w="28575">
            <a:solidFill>
              <a:srgbClr val="00A55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8" name="Google Shape;108;p17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b="1" sz="27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/>
            </a:lvl1pPr>
            <a:lvl2pPr indent="-3048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/>
            </a:lvl3pPr>
            <a:lvl4pPr indent="-2857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/>
            </a:lvl4pPr>
            <a:lvl5pPr indent="-2730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Char char="•"/>
              <a:defRPr sz="7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1255"/>
            <a:ext cx="9144000" cy="51432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7081" y="419100"/>
            <a:ext cx="2295089" cy="5523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3" name="Google Shape;113;p18"/>
          <p:cNvCxnSpPr/>
          <p:nvPr/>
        </p:nvCxnSpPr>
        <p:spPr>
          <a:xfrm>
            <a:off x="724095" y="4436184"/>
            <a:ext cx="78711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4" name="Google Shape;114;p18"/>
          <p:cNvSpPr txBox="1"/>
          <p:nvPr>
            <p:ph type="title"/>
          </p:nvPr>
        </p:nvSpPr>
        <p:spPr>
          <a:xfrm>
            <a:off x="724096" y="2409751"/>
            <a:ext cx="7871100" cy="74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b="1" sz="5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18"/>
          <p:cNvSpPr txBox="1"/>
          <p:nvPr>
            <p:ph idx="1" type="body"/>
          </p:nvPr>
        </p:nvSpPr>
        <p:spPr>
          <a:xfrm>
            <a:off x="724096" y="3111748"/>
            <a:ext cx="3645300" cy="3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2700"/>
              <a:buNone/>
              <a:defRPr b="1" sz="2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116" name="Google Shape;116;p18"/>
          <p:cNvSpPr txBox="1"/>
          <p:nvPr>
            <p:ph idx="2" type="body"/>
          </p:nvPr>
        </p:nvSpPr>
        <p:spPr>
          <a:xfrm>
            <a:off x="7213476" y="4518626"/>
            <a:ext cx="1381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1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  <p:sp>
        <p:nvSpPr>
          <p:cNvPr id="117" name="Google Shape;117;p18"/>
          <p:cNvSpPr txBox="1"/>
          <p:nvPr>
            <p:ph idx="3" type="body"/>
          </p:nvPr>
        </p:nvSpPr>
        <p:spPr>
          <a:xfrm>
            <a:off x="7213476" y="4706183"/>
            <a:ext cx="1381800" cy="2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0" spcFirstLastPara="1" rIns="0" wrap="square" tIns="34275">
            <a:normAutofit/>
          </a:bodyPr>
          <a:lstStyle>
            <a:lvl1pPr indent="-228600" lvl="0" marL="457200" algn="r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701293" y="-20238"/>
            <a:ext cx="10917320" cy="562624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/>
          <p:nvPr/>
        </p:nvSpPr>
        <p:spPr>
          <a:xfrm>
            <a:off x="7893330" y="4819688"/>
            <a:ext cx="1250700" cy="303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9"/>
          <p:cNvSpPr txBox="1"/>
          <p:nvPr>
            <p:ph type="title"/>
          </p:nvPr>
        </p:nvSpPr>
        <p:spPr>
          <a:xfrm>
            <a:off x="4385180" y="1734754"/>
            <a:ext cx="40209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  <a:defRPr b="1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0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25" name="Google Shape;125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7" name="Google Shape;137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9" name="Google Shape;139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3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4" name="Google Shape;144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0" name="Google Shape;150;p24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52" name="Google Shape;152;p24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8" name="Google Shape;158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9" name="Google Shape;159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0" name="Google Shape;160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4" name="Google Shape;164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68" name="Google Shape;168;p27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69" name="Google Shape;169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0" name="Google Shape;170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4" name="Google Shape;174;p28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76" name="Google Shape;176;p2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7" name="Google Shape;177;p2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8" name="Google Shape;178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0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7" name="Google Shape;187;p30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8" name="Google Shape;188;p3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9" name="Google Shape;189;p3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3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97" name="Google Shape;197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" name="Google Shape;19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1" name="Google Shape;201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5" name="Google Shape;20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9" name="Google Shape;209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0" name="Google Shape;220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4" name="Google Shape;224;p3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5" name="Google Shape;225;p3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6" name="Google Shape;22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29" name="Google Shape;22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2" name="Google Shape;232;p4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" name="Google Shape;23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2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1" name="Google Shape;101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2" name="Google Shape;102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 txBox="1"/>
          <p:nvPr>
            <p:ph type="title"/>
          </p:nvPr>
        </p:nvSpPr>
        <p:spPr>
          <a:xfrm>
            <a:off x="714137" y="2028370"/>
            <a:ext cx="7715726" cy="1121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4900">
                <a:solidFill>
                  <a:srgbClr val="FFFFFF"/>
                </a:solidFill>
              </a:rPr>
              <a:t>STATIC WEBSITE HOSTING</a:t>
            </a:r>
            <a:endParaRPr sz="49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43"/>
          <p:cNvSpPr txBox="1"/>
          <p:nvPr>
            <p:ph type="title"/>
          </p:nvPr>
        </p:nvSpPr>
        <p:spPr>
          <a:xfrm>
            <a:off x="737775" y="3149606"/>
            <a:ext cx="7668450" cy="1063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300">
                <a:latin typeface="Raleway"/>
                <a:ea typeface="Raleway"/>
                <a:cs typeface="Raleway"/>
                <a:sym typeface="Raleway"/>
              </a:rPr>
              <a:t>PROJECT HANDOVER PRESENTATION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4"/>
          <p:cNvSpPr txBox="1"/>
          <p:nvPr>
            <p:ph type="title"/>
          </p:nvPr>
        </p:nvSpPr>
        <p:spPr>
          <a:xfrm>
            <a:off x="737824" y="87762"/>
            <a:ext cx="7668353" cy="9754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2300">
                <a:latin typeface="Raleway"/>
                <a:ea typeface="Raleway"/>
                <a:cs typeface="Raleway"/>
                <a:sym typeface="Raleway"/>
              </a:rPr>
              <a:t>Environment Overview</a:t>
            </a:r>
            <a:endParaRPr/>
          </a:p>
        </p:txBody>
      </p:sp>
      <p:sp>
        <p:nvSpPr>
          <p:cNvPr id="248" name="Google Shape;248;p44"/>
          <p:cNvSpPr txBox="1"/>
          <p:nvPr>
            <p:ph idx="1" type="body"/>
          </p:nvPr>
        </p:nvSpPr>
        <p:spPr>
          <a:xfrm>
            <a:off x="737824" y="1149871"/>
            <a:ext cx="7670603" cy="390586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Two environments: UAT &amp; PROD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Separate Terraform configurations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Shared promotion workflow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GitHub-based source repository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Independent CloudFront distributions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Infrastructure Inventory</a:t>
            </a:r>
            <a:endParaRPr/>
          </a:p>
        </p:txBody>
      </p:sp>
      <p:graphicFrame>
        <p:nvGraphicFramePr>
          <p:cNvPr id="255" name="Google Shape;255;p45"/>
          <p:cNvGraphicFramePr/>
          <p:nvPr/>
        </p:nvGraphicFramePr>
        <p:xfrm>
          <a:off x="399831" y="127891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{EB771118-2874-47FC-A0E7-3B66B8192CC7}</a:tableStyleId>
              </a:tblPr>
              <a:tblGrid>
                <a:gridCol w="3121500"/>
                <a:gridCol w="2459850"/>
                <a:gridCol w="2930450"/>
              </a:tblGrid>
              <a:tr h="561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Component/Service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Region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Value/Scope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Terraform Code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Local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IaC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0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AWS Region</a:t>
                      </a: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(for Regional Resources)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ap-southeast-1 (Singapore)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S3 Buckets, CodePipeline, EventBridge, Lambda, SNS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CloudFront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CDN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2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IAM Roles &amp; Policy</a:t>
                      </a:r>
                      <a:endParaRPr b="1"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Global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" sz="21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Least Privilege Access</a:t>
                      </a:r>
                      <a:endParaRPr sz="21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Access &amp; Permissions</a:t>
            </a:r>
            <a:endParaRPr/>
          </a:p>
        </p:txBody>
      </p:sp>
      <p:sp>
        <p:nvSpPr>
          <p:cNvPr id="262" name="Google Shape;262;p46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IAM roles for Terraform execution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Pipeline service roles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Lambda execution role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GitHub CodeConnection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SNS email subscribers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Architecture Overview and Diagram</a:t>
            </a:r>
            <a:endParaRPr/>
          </a:p>
        </p:txBody>
      </p:sp>
      <p:pic>
        <p:nvPicPr>
          <p:cNvPr id="269" name="Google Shape;269;p47" title="Static-Web-Hosting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200" y="1532746"/>
            <a:ext cx="8744275" cy="305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8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Architecture Overview and Diagram</a:t>
            </a:r>
            <a:endParaRPr/>
          </a:p>
        </p:txBody>
      </p:sp>
      <p:pic>
        <p:nvPicPr>
          <p:cNvPr id="276" name="Google Shape;276;p48" title="workflow.drawi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2825" y="1265562"/>
            <a:ext cx="4320575" cy="3775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9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Backup Operational Process</a:t>
            </a:r>
            <a:endParaRPr/>
          </a:p>
        </p:txBody>
      </p:sp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Terraform state backup (recommended remote backend)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Infrastructure redeploy via terraform apply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CloudFront invalidation on new deployment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Recreate UAT before PROD if state lost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0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Knowledge Transfer (KT) Details</a:t>
            </a:r>
            <a:endParaRPr/>
          </a:p>
        </p:txBody>
      </p:sp>
      <p:sp>
        <p:nvSpPr>
          <p:cNvPr id="290" name="Google Shape;290;p50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Terraform module explanation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Environment variable walkthrough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Pipeline workflow explanation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Failure scenario demo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Documentation handover completed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1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Pending Activities</a:t>
            </a:r>
            <a:endParaRPr/>
          </a:p>
        </p:txBody>
      </p:sp>
      <p:sp>
        <p:nvSpPr>
          <p:cNvPr id="297" name="Google Shape;297;p51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Optional remote backend configuration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Enhanced monitoring setup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Multi-region DR implementation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Cost monitoring dashboard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Security hardening review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2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Handover Acceptance</a:t>
            </a:r>
            <a:endParaRPr/>
          </a:p>
        </p:txBody>
      </p:sp>
      <p:sp>
        <p:nvSpPr>
          <p:cNvPr id="304" name="Google Shape;304;p52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Access verified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Documentation received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KT completed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No pending critical issues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Formal acceptance sign-off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53"/>
          <p:cNvSpPr txBox="1"/>
          <p:nvPr>
            <p:ph type="title"/>
          </p:nvPr>
        </p:nvSpPr>
        <p:spPr>
          <a:xfrm>
            <a:off x="737824" y="87762"/>
            <a:ext cx="7668300" cy="97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"/>
              <a:t>Formal Sign-Off</a:t>
            </a:r>
            <a:endParaRPr/>
          </a:p>
        </p:txBody>
      </p:sp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735573" y="1329755"/>
            <a:ext cx="7670700" cy="33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Infrastructure deployed successfully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All planned scope delivered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Testing completed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Documentation shared</a:t>
            </a:r>
            <a:br>
              <a:rPr lang="en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Client acceptance pending signature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4"/>
          <p:cNvSpPr txBox="1"/>
          <p:nvPr>
            <p:ph type="title"/>
          </p:nvPr>
        </p:nvSpPr>
        <p:spPr>
          <a:xfrm>
            <a:off x="4385392" y="1734540"/>
            <a:ext cx="4020870" cy="17012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">
                <a:solidFill>
                  <a:schemeClr val="dk2"/>
                </a:solidFill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