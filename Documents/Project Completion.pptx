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  <p:sldMasterId id="214748367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Raleway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11" Type="http://schemas.openxmlformats.org/officeDocument/2006/relationships/slide" Target="slides/slide6.xml"/><Relationship Id="rId22" Type="http://schemas.openxmlformats.org/officeDocument/2006/relationships/font" Target="fonts/Raleway-italic.fntdata"/><Relationship Id="rId10" Type="http://schemas.openxmlformats.org/officeDocument/2006/relationships/slide" Target="slides/slide5.xml"/><Relationship Id="rId21" Type="http://schemas.openxmlformats.org/officeDocument/2006/relationships/font" Target="fonts/Raleway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aleway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673"/>
            <a:ext cx="12192000" cy="6857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108" y="558800"/>
            <a:ext cx="3060118" cy="7364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2"/>
          <p:cNvCxnSpPr/>
          <p:nvPr/>
        </p:nvCxnSpPr>
        <p:spPr>
          <a:xfrm>
            <a:off x="965460" y="5914912"/>
            <a:ext cx="10494764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" name="Google Shape;19;p2"/>
          <p:cNvSpPr txBox="1"/>
          <p:nvPr>
            <p:ph type="title"/>
          </p:nvPr>
        </p:nvSpPr>
        <p:spPr>
          <a:xfrm>
            <a:off x="965461" y="3213001"/>
            <a:ext cx="10494764" cy="999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199"/>
              <a:buFont typeface="Calibri"/>
              <a:buNone/>
              <a:defRPr b="1" sz="719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body"/>
          </p:nvPr>
        </p:nvSpPr>
        <p:spPr>
          <a:xfrm>
            <a:off x="965461" y="4148997"/>
            <a:ext cx="4860223" cy="431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99"/>
              <a:buNone/>
              <a:defRPr b="1" sz="359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50"/>
              <a:buNone/>
              <a:defRPr b="1" sz="215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9pPr>
          </a:lstStyle>
          <a:p/>
        </p:txBody>
      </p:sp>
      <p:sp>
        <p:nvSpPr>
          <p:cNvPr id="21" name="Google Shape;21;p2"/>
          <p:cNvSpPr txBox="1"/>
          <p:nvPr>
            <p:ph idx="2" type="body"/>
          </p:nvPr>
        </p:nvSpPr>
        <p:spPr>
          <a:xfrm>
            <a:off x="9617968" y="6024835"/>
            <a:ext cx="1842257" cy="32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50"/>
              <a:buNone/>
              <a:defRPr b="1" sz="215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9pPr>
          </a:lstStyle>
          <a:p/>
        </p:txBody>
      </p:sp>
      <p:sp>
        <p:nvSpPr>
          <p:cNvPr id="22" name="Google Shape;22;p2"/>
          <p:cNvSpPr txBox="1"/>
          <p:nvPr>
            <p:ph idx="3" type="body"/>
          </p:nvPr>
        </p:nvSpPr>
        <p:spPr>
          <a:xfrm>
            <a:off x="9617968" y="6274910"/>
            <a:ext cx="1842257" cy="32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50"/>
              <a:buNone/>
              <a:defRPr b="1" sz="215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b="1" sz="185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Colum with Bullet Point">
  <p:cSld name="Single Colum with Bullet Poi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983392" y="0"/>
            <a:ext cx="9504537" cy="116668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62585" y="261114"/>
            <a:ext cx="550033" cy="5500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3"/>
          <p:cNvCxnSpPr/>
          <p:nvPr/>
        </p:nvCxnSpPr>
        <p:spPr>
          <a:xfrm>
            <a:off x="983392" y="1449220"/>
            <a:ext cx="11208608" cy="0"/>
          </a:xfrm>
          <a:prstGeom prst="straightConnector1">
            <a:avLst/>
          </a:prstGeom>
          <a:noFill/>
          <a:ln cap="flat" cmpd="sng" w="38100">
            <a:solidFill>
              <a:srgbClr val="00A5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" name="Google Shape;27;p3"/>
          <p:cNvSpPr txBox="1"/>
          <p:nvPr>
            <p:ph type="title"/>
          </p:nvPr>
        </p:nvSpPr>
        <p:spPr>
          <a:xfrm>
            <a:off x="983765" y="117016"/>
            <a:ext cx="10224470" cy="1300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Calibri"/>
              <a:buNone/>
              <a:defRPr b="1" sz="3599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980764" y="1773007"/>
            <a:ext cx="10227471" cy="4479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4pPr>
            <a:lvl5pPr indent="-2857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268390" y="-26984"/>
            <a:ext cx="14556427" cy="750165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10524440" y="6426250"/>
            <a:ext cx="1667560" cy="40476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5846907" y="2313005"/>
            <a:ext cx="5361328" cy="2267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99"/>
              <a:buFont typeface="Calibri"/>
              <a:buNone/>
              <a:defRPr b="1" sz="539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9" name="Google Shape;79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Colum with Bullet Point">
  <p:cSld name="Single Colum with Bullet Poi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983393" y="1"/>
            <a:ext cx="9504537" cy="116668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t/>
            </a:r>
            <a:endParaRPr b="0" i="0" sz="93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62586" y="261115"/>
            <a:ext cx="550033" cy="5500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17"/>
          <p:cNvCxnSpPr/>
          <p:nvPr/>
        </p:nvCxnSpPr>
        <p:spPr>
          <a:xfrm>
            <a:off x="983392" y="1449220"/>
            <a:ext cx="11208608" cy="0"/>
          </a:xfrm>
          <a:prstGeom prst="straightConnector1">
            <a:avLst/>
          </a:prstGeom>
          <a:noFill/>
          <a:ln cap="flat" cmpd="sng" w="38100">
            <a:solidFill>
              <a:srgbClr val="00A5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17"/>
          <p:cNvSpPr txBox="1"/>
          <p:nvPr>
            <p:ph type="title"/>
          </p:nvPr>
        </p:nvSpPr>
        <p:spPr>
          <a:xfrm>
            <a:off x="983766" y="117017"/>
            <a:ext cx="10224471" cy="1300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3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980765" y="1773007"/>
            <a:ext cx="10227471" cy="44791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/>
            </a:lvl1pPr>
            <a:lvl2pPr indent="-3048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/>
            </a:lvl2pPr>
            <a:lvl3pPr indent="-29845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467"/>
            </a:lvl3pPr>
            <a:lvl4pPr indent="-28575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1200"/>
            </a:lvl4pPr>
            <a:lvl5pPr indent="-27305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933"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673"/>
            <a:ext cx="12192000" cy="6857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108" y="558801"/>
            <a:ext cx="3060117" cy="7364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18"/>
          <p:cNvCxnSpPr/>
          <p:nvPr/>
        </p:nvCxnSpPr>
        <p:spPr>
          <a:xfrm>
            <a:off x="965461" y="5914912"/>
            <a:ext cx="10494764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18"/>
          <p:cNvSpPr txBox="1"/>
          <p:nvPr>
            <p:ph type="title"/>
          </p:nvPr>
        </p:nvSpPr>
        <p:spPr>
          <a:xfrm>
            <a:off x="965462" y="3213002"/>
            <a:ext cx="10494764" cy="999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965462" y="4148998"/>
            <a:ext cx="4860223" cy="431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2133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9pPr>
          </a:lstStyle>
          <a:p/>
        </p:txBody>
      </p:sp>
      <p:sp>
        <p:nvSpPr>
          <p:cNvPr id="120" name="Google Shape;120;p18"/>
          <p:cNvSpPr txBox="1"/>
          <p:nvPr>
            <p:ph idx="2" type="body"/>
          </p:nvPr>
        </p:nvSpPr>
        <p:spPr>
          <a:xfrm>
            <a:off x="9617969" y="6024835"/>
            <a:ext cx="1842257" cy="32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indent="-228600" lvl="0" marL="457200" algn="r">
              <a:lnSpc>
                <a:spcPct val="8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86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2133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9pPr>
          </a:lstStyle>
          <a:p/>
        </p:txBody>
      </p:sp>
      <p:sp>
        <p:nvSpPr>
          <p:cNvPr id="121" name="Google Shape;121;p18"/>
          <p:cNvSpPr txBox="1"/>
          <p:nvPr>
            <p:ph idx="3" type="body"/>
          </p:nvPr>
        </p:nvSpPr>
        <p:spPr>
          <a:xfrm>
            <a:off x="9617969" y="6274911"/>
            <a:ext cx="1842257" cy="32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indent="-228600" lvl="0" marL="457200" algn="r">
              <a:lnSpc>
                <a:spcPct val="8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86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2133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268391" y="-26984"/>
            <a:ext cx="14556427" cy="750165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/>
          <p:nvPr/>
        </p:nvSpPr>
        <p:spPr>
          <a:xfrm>
            <a:off x="10524440" y="6426251"/>
            <a:ext cx="1667560" cy="40476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t/>
            </a:r>
            <a:endParaRPr b="0" i="0" sz="93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5846907" y="2313005"/>
            <a:ext cx="5361328" cy="2267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b="1" sz="533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" type="subTitle"/>
          </p:nvPr>
        </p:nvSpPr>
        <p:spPr>
          <a:xfrm>
            <a:off x="1524000" y="3602038"/>
            <a:ext cx="9144000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/>
        </p:txBody>
      </p:sp>
      <p:sp>
        <p:nvSpPr>
          <p:cNvPr id="129" name="Google Shape;129;p20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1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831851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2" type="body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9pPr>
          </a:lstStyle>
          <a:p/>
        </p:txBody>
      </p:sp>
      <p:sp>
        <p:nvSpPr>
          <p:cNvPr id="154" name="Google Shape;154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9pPr>
          </a:lstStyle>
          <a:p/>
        </p:txBody>
      </p:sp>
      <p:sp>
        <p:nvSpPr>
          <p:cNvPr id="156" name="Google Shape;156;p24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24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3" name="Google Shape;163;p25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indent="-36195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800"/>
            </a:lvl2pPr>
            <a:lvl3pPr indent="-3429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indent="-32385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4pPr>
            <a:lvl5pPr indent="-32385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5pPr>
            <a:lvl6pPr indent="-32385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6pPr>
            <a:lvl7pPr indent="-32385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7pPr>
            <a:lvl8pPr indent="-32385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8pPr>
            <a:lvl9pPr indent="-32385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9pPr>
          </a:lstStyle>
          <a:p/>
        </p:txBody>
      </p:sp>
      <p:sp>
        <p:nvSpPr>
          <p:cNvPr id="172" name="Google Shape;172;p27"/>
          <p:cNvSpPr txBox="1"/>
          <p:nvPr>
            <p:ph idx="2" type="body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/>
        </p:txBody>
      </p:sp>
      <p:sp>
        <p:nvSpPr>
          <p:cNvPr id="173" name="Google Shape;173;p27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27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27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8" name="Google Shape;178;p28"/>
          <p:cNvSpPr/>
          <p:nvPr>
            <p:ph idx="2" type="pic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/>
        </p:txBody>
      </p:sp>
      <p:sp>
        <p:nvSpPr>
          <p:cNvPr id="180" name="Google Shape;180;p28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28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 rot="5400000">
            <a:off x="3920331" y="-1256505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6" name="Google Shape;186;p29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29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 rot="5400000">
            <a:off x="7133431" y="1956594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 rot="5400000">
            <a:off x="1799431" y="-596106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2" name="Google Shape;192;p30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0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952183" y="2704493"/>
            <a:ext cx="10287634" cy="1494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199"/>
              <a:buNone/>
            </a:pPr>
            <a:r>
              <a:rPr lang="en-IN" sz="6500">
                <a:solidFill>
                  <a:srgbClr val="FFFFFF"/>
                </a:solidFill>
              </a:rPr>
              <a:t>STATIC WEBSITE HOSTING</a:t>
            </a:r>
            <a:endParaRPr sz="6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1"/>
          <p:cNvSpPr txBox="1"/>
          <p:nvPr>
            <p:ph type="title"/>
          </p:nvPr>
        </p:nvSpPr>
        <p:spPr>
          <a:xfrm>
            <a:off x="983700" y="4199475"/>
            <a:ext cx="102246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>
                <a:latin typeface="Raleway"/>
                <a:ea typeface="Raleway"/>
                <a:cs typeface="Raleway"/>
                <a:sym typeface="Raleway"/>
              </a:rPr>
              <a:t>PROJECT COMPLETION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983765" y="117016"/>
            <a:ext cx="10224470" cy="1300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>
                <a:latin typeface="Raleway"/>
                <a:ea typeface="Raleway"/>
                <a:cs typeface="Raleway"/>
                <a:sym typeface="Raleway"/>
              </a:rPr>
              <a:t>Project Information</a:t>
            </a:r>
            <a:endParaRPr/>
          </a:p>
        </p:txBody>
      </p:sp>
      <p:sp>
        <p:nvSpPr>
          <p:cNvPr id="207" name="Google Shape;207;p32"/>
          <p:cNvSpPr txBox="1"/>
          <p:nvPr>
            <p:ph idx="1" type="body"/>
          </p:nvPr>
        </p:nvSpPr>
        <p:spPr>
          <a:xfrm>
            <a:off x="983765" y="1533162"/>
            <a:ext cx="10227471" cy="5207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Project Name: DayNight Terraform Infrastructure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Client / Business Unit: Precision Group, 'Ramakrishnan.Balasubramanian@precisionit.co.in'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Environment: UAT &amp; Production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Cloud Platform: AWS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IaC Tool: Terraform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CI/CD Tool: AWS CodePipeline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Deployment Model: GitHub → CodePipeline → S3 → CloudFront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Project Duration: 2 days (48 hours)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Go-Live Date: 16th February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983765" y="117016"/>
            <a:ext cx="10224470" cy="1300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>
                <a:latin typeface="Raleway"/>
                <a:ea typeface="Raleway"/>
                <a:cs typeface="Raleway"/>
                <a:sym typeface="Raleway"/>
              </a:rPr>
              <a:t>Executive Summary</a:t>
            </a:r>
            <a:endParaRPr/>
          </a:p>
        </p:txBody>
      </p:sp>
      <p:sp>
        <p:nvSpPr>
          <p:cNvPr id="213" name="Google Shape;213;p33"/>
          <p:cNvSpPr txBox="1"/>
          <p:nvPr>
            <p:ph idx="1" type="body"/>
          </p:nvPr>
        </p:nvSpPr>
        <p:spPr>
          <a:xfrm>
            <a:off x="980764" y="1773007"/>
            <a:ext cx="10227471" cy="4479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Implemented automated(CI/CD) codepipeline for static website hosting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Designed two-environment architecture (UAT → PROD)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Infrastructure fully provisioned using Terraform (IaC)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Secure CloudFront-based content delivery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Automated promotion workflow from UAT to PROD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Email-based approval mechanism for production deployment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983764" y="280789"/>
            <a:ext cx="10453059" cy="1300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Calibri"/>
              <a:buNone/>
            </a:pPr>
            <a:r>
              <a:rPr lang="en-IN" sz="3000">
                <a:latin typeface="Raleway"/>
                <a:ea typeface="Raleway"/>
                <a:cs typeface="Raleway"/>
                <a:sym typeface="Raleway"/>
              </a:rPr>
              <a:t>Scope of Work (Delivered vs Planned)</a:t>
            </a:r>
            <a:endParaRPr/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980764" y="1773007"/>
            <a:ext cx="10227471" cy="4479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Planned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UAT &amp; PROD environment setup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S3 static website hosting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CloudFront distribution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CI/CD pipeline integration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SNS notifications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Lambda-based cache invalidation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Delivered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Fully automated Terraform-based infrastructure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UAT pipeline with manual approval stage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PROD pipeline without manual approval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SNS email notifications (Success / Failure / Approval)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CloudFront invalidation automation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Environment separation with remote state dependency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66639" lvl="0" marL="18093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983764" y="280789"/>
            <a:ext cx="104532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Calibri"/>
              <a:buNone/>
            </a:pPr>
            <a:r>
              <a:rPr lang="en-IN" sz="3000">
                <a:latin typeface="Raleway"/>
                <a:ea typeface="Raleway"/>
                <a:cs typeface="Raleway"/>
                <a:sym typeface="Raleway"/>
              </a:rPr>
              <a:t>Architecture Overview and Diagram</a:t>
            </a:r>
            <a:endParaRPr/>
          </a:p>
        </p:txBody>
      </p:sp>
      <p:pic>
        <p:nvPicPr>
          <p:cNvPr id="225" name="Google Shape;225;p35" title="Static-Web-Hosting.drawi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338" y="2052850"/>
            <a:ext cx="11591326" cy="40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983765" y="117016"/>
            <a:ext cx="10224400" cy="13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IN"/>
              <a:t>Architecture Overview and Diagram</a:t>
            </a:r>
            <a:endParaRPr/>
          </a:p>
        </p:txBody>
      </p:sp>
      <p:pic>
        <p:nvPicPr>
          <p:cNvPr id="232" name="Google Shape;232;p36" title="workflow.drawi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3767" y="1687416"/>
            <a:ext cx="5760767" cy="5034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983765" y="117016"/>
            <a:ext cx="102246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99"/>
              <a:buNone/>
            </a:pPr>
            <a:r>
              <a:rPr lang="en-IN"/>
              <a:t>Services Used</a:t>
            </a:r>
            <a:endParaRPr/>
          </a:p>
        </p:txBody>
      </p:sp>
      <p:sp>
        <p:nvSpPr>
          <p:cNvPr id="239" name="Google Shape;239;p37"/>
          <p:cNvSpPr txBox="1"/>
          <p:nvPr>
            <p:ph idx="1" type="body"/>
          </p:nvPr>
        </p:nvSpPr>
        <p:spPr>
          <a:xfrm>
            <a:off x="980764" y="1773007"/>
            <a:ext cx="10227600" cy="44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Terraform IaC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GitHub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AWS S3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SNS - Email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CodePipeline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CloudFront CDN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EventBridge &amp; IAM Roles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type="title"/>
          </p:nvPr>
        </p:nvSpPr>
        <p:spPr>
          <a:xfrm>
            <a:off x="983765" y="117016"/>
            <a:ext cx="102246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99"/>
              <a:buNone/>
            </a:pPr>
            <a:r>
              <a:rPr lang="en-IN"/>
              <a:t>Architecture Overview and Diagram</a:t>
            </a:r>
            <a:endParaRPr/>
          </a:p>
        </p:txBody>
      </p:sp>
      <p:sp>
        <p:nvSpPr>
          <p:cNvPr id="246" name="Google Shape;246;p38"/>
          <p:cNvSpPr txBox="1"/>
          <p:nvPr>
            <p:ph idx="1" type="body"/>
          </p:nvPr>
        </p:nvSpPr>
        <p:spPr>
          <a:xfrm>
            <a:off x="980764" y="1773007"/>
            <a:ext cx="10227600" cy="44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S3 bucket for static hosting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CloudFront distribution with OAC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Lambda for cache invalidation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SNS for pipeline notifications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CodePipeline integrated with GitHub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Two isolated environments (UAT &amp; PROD)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>
            <p:ph type="title"/>
          </p:nvPr>
        </p:nvSpPr>
        <p:spPr>
          <a:xfrm>
            <a:off x="983765" y="117016"/>
            <a:ext cx="102246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99"/>
              <a:buNone/>
            </a:pPr>
            <a:r>
              <a:rPr lang="en-IN"/>
              <a:t>Security &amp; Compliance Implementation</a:t>
            </a:r>
            <a:endParaRPr/>
          </a:p>
        </p:txBody>
      </p:sp>
      <p:sp>
        <p:nvSpPr>
          <p:cNvPr id="253" name="Google Shape;253;p39"/>
          <p:cNvSpPr txBox="1"/>
          <p:nvPr>
            <p:ph idx="1" type="body"/>
          </p:nvPr>
        </p:nvSpPr>
        <p:spPr>
          <a:xfrm>
            <a:off x="980764" y="1773007"/>
            <a:ext cx="10227600" cy="44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IAM least privilege roles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CloudFront Origin Access Control (OAC)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Private S3 bucket (no public access)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HTTPS-only access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Controlled pipeline execution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Tagging standards enforced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Manual approval for PROD promotion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title"/>
          </p:nvPr>
        </p:nvSpPr>
        <p:spPr>
          <a:xfrm>
            <a:off x="983765" y="117016"/>
            <a:ext cx="102246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99"/>
              <a:buNone/>
            </a:pPr>
            <a:r>
              <a:rPr lang="en-IN"/>
              <a:t>Monitoring &amp; Alerting Setup</a:t>
            </a:r>
            <a:endParaRPr/>
          </a:p>
        </p:txBody>
      </p:sp>
      <p:sp>
        <p:nvSpPr>
          <p:cNvPr id="260" name="Google Shape;260;p40"/>
          <p:cNvSpPr txBox="1"/>
          <p:nvPr>
            <p:ph idx="1" type="body"/>
          </p:nvPr>
        </p:nvSpPr>
        <p:spPr>
          <a:xfrm>
            <a:off x="980764" y="1773007"/>
            <a:ext cx="10227600" cy="44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SNS email notifications for pipeline events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Success notifications with CloudFront URL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Failure notifications with stage details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Approval request notification for PROD trigger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CloudWatch logs for Lambda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Default CloudWatch Dashboard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Infra-orchestrator.sh (Logs)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983765" y="117016"/>
            <a:ext cx="102246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99"/>
              <a:buNone/>
            </a:pPr>
            <a:r>
              <a:rPr lang="en-IN"/>
              <a:t>Testing &amp; Validation</a:t>
            </a:r>
            <a:endParaRPr/>
          </a:p>
        </p:txBody>
      </p:sp>
      <p:sp>
        <p:nvSpPr>
          <p:cNvPr id="267" name="Google Shape;267;p41"/>
          <p:cNvSpPr txBox="1"/>
          <p:nvPr>
            <p:ph idx="1" type="body"/>
          </p:nvPr>
        </p:nvSpPr>
        <p:spPr>
          <a:xfrm>
            <a:off x="980764" y="1773007"/>
            <a:ext cx="10227600" cy="44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Terraform plan validation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UAT deployment testing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CloudFront content validation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Cache invalidation testing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Approval workflow validation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Production deployment verification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the entire 12th slide content into single tablur column  dont change the template" id="273" name="Google Shape;27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 txBox="1"/>
          <p:nvPr>
            <p:ph type="title"/>
          </p:nvPr>
        </p:nvSpPr>
        <p:spPr>
          <a:xfrm>
            <a:off x="983765" y="117016"/>
            <a:ext cx="102246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99"/>
              <a:buNone/>
            </a:pPr>
            <a:r>
              <a:rPr lang="en-IN"/>
              <a:t>Known Limitations / Open Risks</a:t>
            </a:r>
            <a:endParaRPr/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980764" y="1773007"/>
            <a:ext cx="10227600" cy="44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Local Terraform backend used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PROD depends on UAT state file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Manual SNS subscription confirmation required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No multi-region DR setup</a:t>
            </a:r>
            <a:br>
              <a:rPr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Monitoring limited to pipeline notifications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/>
          <p:nvPr>
            <p:ph type="title"/>
          </p:nvPr>
        </p:nvSpPr>
        <p:spPr>
          <a:xfrm>
            <a:off x="5847189" y="2312720"/>
            <a:ext cx="5361160" cy="2268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00"/>
              <a:buFont typeface="Calibri"/>
              <a:buNone/>
            </a:pPr>
            <a:r>
              <a:rPr lang="en-IN">
                <a:solidFill>
                  <a:schemeClr val="dk2"/>
                </a:solidFill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